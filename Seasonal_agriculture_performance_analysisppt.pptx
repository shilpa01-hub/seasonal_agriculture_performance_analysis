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63" d="100"/>
          <a:sy n="63" d="100"/>
        </p:scale>
        <p:origin x="652" y="5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86117" y="3588198"/>
            <a:ext cx="8386763" cy="861497"/>
          </a:xfrm>
        </p:spPr>
        <p:txBody>
          <a:bodyPr vert="horz" lIns="91440" tIns="45720" rIns="91440" bIns="45720" rtlCol="0" anchor="t">
            <a:normAutofit fontScale="92500"/>
          </a:bodyPr>
          <a:lstStyle/>
          <a:p>
            <a:pPr algn="ctr"/>
            <a:r>
              <a:rPr lang="en-US" b="0" dirty="0">
                <a:solidFill>
                  <a:schemeClr val="tx1"/>
                </a:solidFill>
              </a:rPr>
              <a:t>Student Name-  Shilpa </a:t>
            </a:r>
            <a:r>
              <a:rPr lang="en-US" b="0" dirty="0" err="1">
                <a:solidFill>
                  <a:schemeClr val="tx1"/>
                </a:solidFill>
              </a:rPr>
              <a:t>Dewaram</a:t>
            </a:r>
            <a:r>
              <a:rPr lang="en-US" b="0" dirty="0">
                <a:solidFill>
                  <a:schemeClr val="tx1"/>
                </a:solidFill>
              </a:rPr>
              <a:t> Sirvi       </a:t>
            </a:r>
            <a:endParaRPr lang="en-IN" b="0" dirty="0">
              <a:solidFill>
                <a:schemeClr val="tx1"/>
              </a:solidFill>
            </a:endParaRPr>
          </a:p>
          <a:p>
            <a:pPr algn="ctr"/>
            <a:r>
              <a:rPr lang="en-US" b="0" dirty="0">
                <a:solidFill>
                  <a:schemeClr val="tx1"/>
                </a:solidFill>
              </a:rPr>
              <a:t>                  College Name- Smt. </a:t>
            </a:r>
            <a:r>
              <a:rPr lang="en-US" b="0" dirty="0" err="1">
                <a:solidFill>
                  <a:schemeClr val="tx1"/>
                </a:solidFill>
              </a:rPr>
              <a:t>Chandibai</a:t>
            </a:r>
            <a:r>
              <a:rPr lang="en-US" b="0" dirty="0">
                <a:solidFill>
                  <a:schemeClr val="tx1"/>
                </a:solidFill>
              </a:rPr>
              <a:t> </a:t>
            </a:r>
            <a:r>
              <a:rPr lang="en-US" b="0" dirty="0" err="1">
                <a:solidFill>
                  <a:schemeClr val="tx1"/>
                </a:solidFill>
              </a:rPr>
              <a:t>Himathmal</a:t>
            </a:r>
            <a:r>
              <a:rPr lang="en-US" b="0" dirty="0">
                <a:solidFill>
                  <a:schemeClr val="tx1"/>
                </a:solidFill>
              </a:rPr>
              <a:t> Mansukhani College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369876" cy="743448"/>
          </a:xfrm>
        </p:spPr>
        <p:txBody>
          <a:bodyPr>
            <a:normAutofit/>
          </a:bodyPr>
          <a:lstStyle/>
          <a:p>
            <a:r>
              <a:rPr lang="en-GB" sz="3200" dirty="0"/>
              <a:t>Project Title -</a:t>
            </a:r>
            <a:r>
              <a:rPr lang="en-IN" sz="3200" dirty="0"/>
              <a:t> </a:t>
            </a:r>
            <a:r>
              <a:rPr lang="en-IN" sz="27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2146126" y="4481944"/>
            <a:ext cx="5646594" cy="369332"/>
          </a:xfrm>
          <a:prstGeom prst="rect">
            <a:avLst/>
          </a:prstGeom>
          <a:noFill/>
        </p:spPr>
        <p:txBody>
          <a:bodyPr wrap="square" rtlCol="0">
            <a:spAutoFit/>
          </a:bodyPr>
          <a:lstStyle/>
          <a:p>
            <a:r>
              <a:rPr lang="en-US" b="1" dirty="0"/>
              <a:t>AICTE STU ID : </a:t>
            </a:r>
            <a:r>
              <a:rPr lang="en-IN" dirty="0"/>
              <a:t>STU6a675e61021261785159265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995604" cy="3607987"/>
          </a:xfrm>
        </p:spPr>
        <p:txBody>
          <a:bodyPr vert="horz" lIns="91440" tIns="45720" rIns="91440" bIns="45720" rtlCol="0" anchor="t">
            <a:normAutofit fontScale="77500" lnSpcReduction="20000"/>
          </a:bodyPr>
          <a:lstStyle/>
          <a:p>
            <a:pPr>
              <a:lnSpc>
                <a:spcPct val="100000"/>
              </a:lnSpc>
            </a:pPr>
            <a:r>
              <a:rPr lang="en-IN" sz="2800" dirty="0">
                <a:latin typeface="Cambria" panose="02040503050406030204" pitchFamily="18" charset="0"/>
                <a:ea typeface="Cambria" panose="020405030504060302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latin typeface="Cambria" panose="02040503050406030204" pitchFamily="18" charset="0"/>
                <a:ea typeface="Cambria" panose="02040503050406030204" pitchFamily="18" charset="0"/>
              </a:rPr>
              <a:t>analyze</a:t>
            </a:r>
            <a:r>
              <a:rPr lang="en-IN" sz="2800" dirty="0">
                <a:latin typeface="Cambria" panose="02040503050406030204" pitchFamily="18" charset="0"/>
                <a:ea typeface="Cambria" panose="02040503050406030204" pitchFamily="18" charset="0"/>
              </a:rPr>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747076" y="805213"/>
            <a:ext cx="8498524" cy="5300947"/>
          </a:xfrm>
        </p:spPr>
        <p:txBody>
          <a:bodyPr>
            <a:normAutofit fontScale="90000"/>
          </a:bodyPr>
          <a:lstStyle/>
          <a:p>
            <a:r>
              <a:rPr lang="en-GB" dirty="0"/>
              <a:t>Project Description</a:t>
            </a:r>
            <a:br>
              <a:rPr lang="en-GB" dirty="0"/>
            </a:br>
            <a:br>
              <a:rPr lang="en-GB" dirty="0"/>
            </a:br>
            <a:r>
              <a:rPr lang="en-IN" sz="2200" b="0" dirty="0">
                <a:latin typeface="Cambria" panose="02040503050406030204" pitchFamily="18" charset="0"/>
                <a:ea typeface="Cambria" panose="02040503050406030204" pitchFamily="18" charset="0"/>
              </a:rPr>
              <a:t>Seasonal Agriculture Performance Analysis is a Python-based data analysis project that focuses on understanding agricultural performance under different seasonal conditions. The project </a:t>
            </a:r>
            <a:r>
              <a:rPr lang="en-IN" sz="2200" b="0" dirty="0" err="1">
                <a:latin typeface="Cambria" panose="02040503050406030204" pitchFamily="18" charset="0"/>
                <a:ea typeface="Cambria" panose="02040503050406030204" pitchFamily="18" charset="0"/>
              </a:rPr>
              <a:t>analyzes</a:t>
            </a:r>
            <a:r>
              <a:rPr lang="en-IN" sz="2200" b="0" dirty="0">
                <a:latin typeface="Cambria" panose="02040503050406030204" pitchFamily="18" charset="0"/>
                <a:ea typeface="Cambria" panose="02040503050406030204" pitchFamily="18" charset="0"/>
              </a:rPr>
              <a:t> factors such as rainfall, temperature, soil conditions, irrigation, water usage, crop yield, production, cost, revenue, and profit.</a:t>
            </a:r>
            <a:br>
              <a:rPr lang="en-IN" sz="2200" b="0" dirty="0">
                <a:latin typeface="Cambria" panose="02040503050406030204" pitchFamily="18" charset="0"/>
                <a:ea typeface="Cambria" panose="02040503050406030204" pitchFamily="18" charset="0"/>
              </a:rPr>
            </a:br>
            <a:br>
              <a:rPr lang="en-IN" sz="2200" b="0" dirty="0">
                <a:latin typeface="Cambria" panose="02040503050406030204" pitchFamily="18" charset="0"/>
                <a:ea typeface="Cambria" panose="02040503050406030204" pitchFamily="18" charset="0"/>
              </a:rPr>
            </a:br>
            <a:r>
              <a:rPr lang="en-IN" sz="2200" b="0" dirty="0">
                <a:latin typeface="Cambria" panose="02040503050406030204" pitchFamily="18" charset="0"/>
                <a:ea typeface="Cambria" panose="02040503050406030204" pitchFamily="18" charset="0"/>
              </a:rPr>
              <a:t>The data is cleaned, </a:t>
            </a:r>
            <a:r>
              <a:rPr lang="en-IN" sz="2200" b="0" dirty="0" err="1">
                <a:latin typeface="Cambria" panose="02040503050406030204" pitchFamily="18" charset="0"/>
                <a:ea typeface="Cambria" panose="02040503050406030204" pitchFamily="18" charset="0"/>
              </a:rPr>
              <a:t>analyzed</a:t>
            </a:r>
            <a:r>
              <a:rPr lang="en-IN" sz="2200" b="0" dirty="0">
                <a:latin typeface="Cambria" panose="02040503050406030204" pitchFamily="18" charset="0"/>
                <a:ea typeface="Cambria" panose="02040503050406030204" pitchFamily="18" charset="0"/>
              </a:rPr>
              <a:t>, and visualized using Python to identify important patterns, performance differences, resource usage, and relationships between environmental factors and agricultural outcomes. The project also provides meaningful insights and data-driven recommendations that can support better agricultural planning and efficient use of resources.</a:t>
            </a:r>
            <a:br>
              <a:rPr lang="en-IN" sz="2200" b="0" dirty="0">
                <a:latin typeface="Cambria" panose="02040503050406030204" pitchFamily="18" charset="0"/>
                <a:ea typeface="Cambria" panose="02040503050406030204" pitchFamily="18" charset="0"/>
              </a:rPr>
            </a:br>
            <a:br>
              <a:rPr lang="en-GB" sz="2200" b="0" dirty="0">
                <a:latin typeface="Cambria" panose="02040503050406030204" pitchFamily="18" charset="0"/>
                <a:ea typeface="Cambria" panose="02040503050406030204" pitchFamily="18" charset="0"/>
              </a:rPr>
            </a:br>
            <a:endParaRPr lang="en-IN" b="0"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lvl="0"/>
            <a:r>
              <a:rPr lang="en-IN" sz="1800" b="1" dirty="0">
                <a:latin typeface="Cambria" panose="02040503050406030204" pitchFamily="18" charset="0"/>
                <a:ea typeface="Cambria" panose="02040503050406030204" pitchFamily="18" charset="0"/>
              </a:rPr>
              <a:t>Farmers</a:t>
            </a:r>
            <a:r>
              <a:rPr lang="en-IN" sz="1800" dirty="0">
                <a:latin typeface="Cambria" panose="02040503050406030204" pitchFamily="18" charset="0"/>
                <a:ea typeface="Cambria" panose="02040503050406030204" pitchFamily="18" charset="0"/>
              </a:rPr>
              <a:t> – to understand crop performance and make better farming decisions. </a:t>
            </a:r>
          </a:p>
          <a:p>
            <a:pPr lvl="0"/>
            <a:r>
              <a:rPr lang="en-IN" sz="1800" b="1" dirty="0">
                <a:latin typeface="Cambria" panose="02040503050406030204" pitchFamily="18" charset="0"/>
                <a:ea typeface="Cambria" panose="02040503050406030204" pitchFamily="18" charset="0"/>
              </a:rPr>
              <a:t>Agricultural planners</a:t>
            </a:r>
            <a:r>
              <a:rPr lang="en-IN" sz="1800" dirty="0">
                <a:latin typeface="Cambria" panose="02040503050406030204" pitchFamily="18" charset="0"/>
                <a:ea typeface="Cambria" panose="02040503050406030204" pitchFamily="18" charset="0"/>
              </a:rPr>
              <a:t> – to plan seasonal agricultural activities and resources. </a:t>
            </a:r>
          </a:p>
          <a:p>
            <a:pPr lvl="0"/>
            <a:r>
              <a:rPr lang="en-IN" sz="1800" b="1" dirty="0">
                <a:latin typeface="Cambria" panose="02040503050406030204" pitchFamily="18" charset="0"/>
                <a:ea typeface="Cambria" panose="02040503050406030204" pitchFamily="18" charset="0"/>
              </a:rPr>
              <a:t>Agricultural departments</a:t>
            </a:r>
            <a:r>
              <a:rPr lang="en-IN" sz="1800" dirty="0">
                <a:latin typeface="Cambria" panose="02040503050406030204" pitchFamily="18" charset="0"/>
                <a:ea typeface="Cambria" panose="02040503050406030204" pitchFamily="18" charset="0"/>
              </a:rPr>
              <a:t> – to study agricultural patterns and performance. </a:t>
            </a:r>
          </a:p>
          <a:p>
            <a:pPr lvl="0"/>
            <a:r>
              <a:rPr lang="en-IN" sz="1800" b="1" dirty="0">
                <a:latin typeface="Cambria" panose="02040503050406030204" pitchFamily="18" charset="0"/>
                <a:ea typeface="Cambria" panose="02040503050406030204" pitchFamily="18" charset="0"/>
              </a:rPr>
              <a:t>Researchers and students</a:t>
            </a:r>
            <a:r>
              <a:rPr lang="en-IN" sz="1800" dirty="0">
                <a:latin typeface="Cambria" panose="02040503050406030204" pitchFamily="18" charset="0"/>
                <a:ea typeface="Cambria" panose="02040503050406030204" pitchFamily="18" charset="0"/>
              </a:rPr>
              <a:t> – to </a:t>
            </a:r>
            <a:r>
              <a:rPr lang="en-IN" sz="1800" dirty="0" err="1">
                <a:latin typeface="Cambria" panose="02040503050406030204" pitchFamily="18" charset="0"/>
                <a:ea typeface="Cambria" panose="02040503050406030204" pitchFamily="18" charset="0"/>
              </a:rPr>
              <a:t>analyze</a:t>
            </a:r>
            <a:r>
              <a:rPr lang="en-IN" sz="1800" dirty="0">
                <a:latin typeface="Cambria" panose="02040503050406030204" pitchFamily="18" charset="0"/>
                <a:ea typeface="Cambria" panose="02040503050406030204" pitchFamily="18" charset="0"/>
              </a:rPr>
              <a:t> agricultural data and identify useful trends. </a:t>
            </a:r>
          </a:p>
          <a:p>
            <a:pPr lvl="0"/>
            <a:r>
              <a:rPr lang="en-IN" sz="1800" b="1" dirty="0">
                <a:latin typeface="Cambria" panose="02040503050406030204" pitchFamily="18" charset="0"/>
                <a:ea typeface="Cambria" panose="02040503050406030204" pitchFamily="18" charset="0"/>
              </a:rPr>
              <a:t>Agribusiness organizations</a:t>
            </a:r>
            <a:r>
              <a:rPr lang="en-IN" sz="1800" dirty="0">
                <a:latin typeface="Cambria" panose="02040503050406030204" pitchFamily="18" charset="0"/>
                <a:ea typeface="Cambria" panose="02040503050406030204" pitchFamily="18" charset="0"/>
              </a:rPr>
              <a:t> – to support decisions related to crop production, resources, and profitability.</a:t>
            </a:r>
          </a:p>
          <a:p>
            <a:pPr algn="just">
              <a:lnSpc>
                <a:spcPct val="150000"/>
              </a:lnSpc>
            </a:pPr>
            <a:endParaRPr lang="en-IN" sz="1600" dirty="0">
              <a:latin typeface="Cambria" panose="02040503050406030204" pitchFamily="18" charset="0"/>
              <a:ea typeface="Cambria" panose="020405030504060302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000218" y="1463105"/>
            <a:ext cx="9027702" cy="5243448"/>
          </a:xfrm>
        </p:spPr>
        <p:txBody>
          <a:bodyPr/>
          <a:lstStyle/>
          <a:p>
            <a:pPr lvl="0"/>
            <a:r>
              <a:rPr lang="en-IN" b="1" dirty="0"/>
              <a:t>Python</a:t>
            </a:r>
            <a:r>
              <a:rPr lang="en-IN" dirty="0"/>
              <a:t> – Main programming language for data analysis. </a:t>
            </a:r>
          </a:p>
          <a:p>
            <a:pPr lvl="0"/>
            <a:r>
              <a:rPr lang="en-IN" b="1" dirty="0"/>
              <a:t>Pandas</a:t>
            </a:r>
            <a:r>
              <a:rPr lang="en-IN" dirty="0"/>
              <a:t> – Data cleaning, manipulation, and analysis. </a:t>
            </a:r>
          </a:p>
          <a:p>
            <a:pPr lvl="0"/>
            <a:r>
              <a:rPr lang="en-IN" b="1" dirty="0"/>
              <a:t>Matplotlib</a:t>
            </a:r>
            <a:r>
              <a:rPr lang="en-IN" dirty="0"/>
              <a:t> – Creating graphs and visualizations. </a:t>
            </a:r>
          </a:p>
          <a:p>
            <a:pPr lvl="0"/>
            <a:r>
              <a:rPr lang="en-IN" b="1" dirty="0"/>
              <a:t>Seaborn</a:t>
            </a:r>
            <a:r>
              <a:rPr lang="en-IN" dirty="0"/>
              <a:t> – Creating statistical charts and visualizations. </a:t>
            </a:r>
          </a:p>
          <a:p>
            <a:pPr lvl="0"/>
            <a:r>
              <a:rPr lang="en-IN" b="1" dirty="0"/>
              <a:t>SciPy</a:t>
            </a:r>
            <a:r>
              <a:rPr lang="en-IN" dirty="0"/>
              <a:t> – Statistical analysis such as ANOVA. </a:t>
            </a:r>
          </a:p>
          <a:p>
            <a:pPr lvl="0"/>
            <a:r>
              <a:rPr lang="en-IN" b="1" dirty="0"/>
              <a:t>Jupyter Notebook</a:t>
            </a:r>
            <a:r>
              <a:rPr lang="en-IN" dirty="0"/>
              <a:t> – Platform used to write and execute the analysis.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p:txBody>
          <a:bodyPr>
            <a:normAutofit/>
          </a:bodyPr>
          <a:lstStyle/>
          <a:p>
            <a:r>
              <a:rPr lang="en-GB" dirty="0">
                <a:solidFill>
                  <a:schemeClr val="tx1"/>
                </a:solidFill>
              </a:rPr>
              <a:t>RESULTS</a:t>
            </a:r>
            <a:br>
              <a:rPr lang="en-GB" dirty="0"/>
            </a:b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3553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A1319A70-F13E-AC97-3E7B-4AE2B1FA6228}"/>
              </a:ext>
            </a:extLst>
          </p:cNvPr>
          <p:cNvPicPr>
            <a:picLocks noChangeAspect="1"/>
          </p:cNvPicPr>
          <p:nvPr/>
        </p:nvPicPr>
        <p:blipFill>
          <a:blip r:embed="rId3"/>
          <a:stretch>
            <a:fillRect/>
          </a:stretch>
        </p:blipFill>
        <p:spPr>
          <a:xfrm>
            <a:off x="564866" y="1296425"/>
            <a:ext cx="5531134" cy="4635738"/>
          </a:xfrm>
          <a:prstGeom prst="rect">
            <a:avLst/>
          </a:prstGeom>
        </p:spPr>
      </p:pic>
      <p:sp>
        <p:nvSpPr>
          <p:cNvPr id="12" name="TextBox 11">
            <a:extLst>
              <a:ext uri="{FF2B5EF4-FFF2-40B4-BE49-F238E27FC236}">
                <a16:creationId xmlns:a16="http://schemas.microsoft.com/office/drawing/2014/main" id="{303487C5-94DA-1441-527D-CAB6996BAFB5}"/>
              </a:ext>
            </a:extLst>
          </p:cNvPr>
          <p:cNvSpPr txBox="1"/>
          <p:nvPr/>
        </p:nvSpPr>
        <p:spPr>
          <a:xfrm>
            <a:off x="6320734" y="1478280"/>
            <a:ext cx="5454706" cy="2308324"/>
          </a:xfrm>
          <a:prstGeom prst="rect">
            <a:avLst/>
          </a:prstGeom>
          <a:noFill/>
        </p:spPr>
        <p:txBody>
          <a:bodyPr wrap="square" rtlCol="0">
            <a:spAutoFit/>
          </a:bodyPr>
          <a:lstStyle/>
          <a:p>
            <a:r>
              <a:rPr lang="en-IN" dirty="0"/>
              <a:t>In this analysis, I examined the univariate distribution of agricultural yield across the dataset. The histogram shows a strongly right-skewed distribution, where the vast majority of farms produce yields concentrated between 0 and 5 Tonnes/Ha. A small fraction of records reach higher values up to 100 Tonnes/Ha, representing high-yielding crops or potential outliers. </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EFDDAFDD-266A-BF2D-C04A-099B7A9321F3}"/>
              </a:ext>
            </a:extLst>
          </p:cNvPr>
          <p:cNvPicPr>
            <a:picLocks noChangeAspect="1"/>
          </p:cNvPicPr>
          <p:nvPr/>
        </p:nvPicPr>
        <p:blipFill>
          <a:blip r:embed="rId3"/>
          <a:stretch>
            <a:fillRect/>
          </a:stretch>
        </p:blipFill>
        <p:spPr>
          <a:xfrm>
            <a:off x="505326" y="1275371"/>
            <a:ext cx="6494914" cy="5040227"/>
          </a:xfrm>
          <a:prstGeom prst="rect">
            <a:avLst/>
          </a:prstGeom>
        </p:spPr>
      </p:pic>
      <p:sp>
        <p:nvSpPr>
          <p:cNvPr id="6" name="TextBox 5">
            <a:extLst>
              <a:ext uri="{FF2B5EF4-FFF2-40B4-BE49-F238E27FC236}">
                <a16:creationId xmlns:a16="http://schemas.microsoft.com/office/drawing/2014/main" id="{03092B5E-C31C-9A75-2AC5-B644E77CE114}"/>
              </a:ext>
            </a:extLst>
          </p:cNvPr>
          <p:cNvSpPr txBox="1"/>
          <p:nvPr/>
        </p:nvSpPr>
        <p:spPr>
          <a:xfrm>
            <a:off x="7406640" y="1213128"/>
            <a:ext cx="4592320" cy="4247317"/>
          </a:xfrm>
          <a:prstGeom prst="rect">
            <a:avLst/>
          </a:prstGeom>
          <a:noFill/>
        </p:spPr>
        <p:txBody>
          <a:bodyPr wrap="square" rtlCol="0">
            <a:spAutoFit/>
          </a:bodyPr>
          <a:lstStyle/>
          <a:p>
            <a:r>
              <a:rPr lang="en-IN" dirty="0"/>
              <a:t>In this analysis, I examined the relationship between rainfall and agricultural yield using a scatter plot. The plot shows that most crops maintain a low yield regardless of the rainfall amount, while higher yields are spread across moderate to high rainfall ranges (around 400 to 1000 mm). This comparison helps us understand how yield varies with water availability; however, this analysis highlights general patterns and differences, and it does not prove that rainfall directly causes higher performance.</a:t>
            </a:r>
          </a:p>
          <a:p>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0C0340ED-918E-D491-9C8E-5096F9D35F29}"/>
              </a:ext>
            </a:extLst>
          </p:cNvPr>
          <p:cNvPicPr>
            <a:picLocks noChangeAspect="1"/>
          </p:cNvPicPr>
          <p:nvPr/>
        </p:nvPicPr>
        <p:blipFill>
          <a:blip r:embed="rId3"/>
          <a:stretch>
            <a:fillRect/>
          </a:stretch>
        </p:blipFill>
        <p:spPr>
          <a:xfrm>
            <a:off x="320982" y="1393708"/>
            <a:ext cx="6770698" cy="5076230"/>
          </a:xfrm>
          <a:prstGeom prst="rect">
            <a:avLst/>
          </a:prstGeom>
        </p:spPr>
      </p:pic>
      <p:sp>
        <p:nvSpPr>
          <p:cNvPr id="2" name="TextBox 1">
            <a:extLst>
              <a:ext uri="{FF2B5EF4-FFF2-40B4-BE49-F238E27FC236}">
                <a16:creationId xmlns:a16="http://schemas.microsoft.com/office/drawing/2014/main" id="{59CF4CE3-1E9C-324C-9C43-493A12C34844}"/>
              </a:ext>
            </a:extLst>
          </p:cNvPr>
          <p:cNvSpPr txBox="1"/>
          <p:nvPr/>
        </p:nvSpPr>
        <p:spPr>
          <a:xfrm>
            <a:off x="7344738" y="1483707"/>
            <a:ext cx="4414520" cy="3970318"/>
          </a:xfrm>
          <a:prstGeom prst="rect">
            <a:avLst/>
          </a:prstGeom>
          <a:noFill/>
        </p:spPr>
        <p:txBody>
          <a:bodyPr wrap="square" rtlCol="0">
            <a:spAutoFit/>
          </a:bodyPr>
          <a:lstStyle/>
          <a:p>
            <a:r>
              <a:rPr lang="en-IN" dirty="0"/>
              <a:t>In this analysis, I evaluated the relationship between rainfall, soil moisture, and yield across different seasons using a scatter plot. The plot shows that higher yields are spread across distinct rainfall ranges depending on the season, with Kharif crops occupying the higher rainfall zones. This comparison helps us understand how environmental factors interact during different growing periods; however, it shows general trends rather than proving direct causation.</a:t>
            </a:r>
          </a:p>
          <a:p>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1BA05E90-711B-D828-9BC2-B15B3733E9A3}"/>
              </a:ext>
            </a:extLst>
          </p:cNvPr>
          <p:cNvPicPr>
            <a:picLocks noChangeAspect="1"/>
          </p:cNvPicPr>
          <p:nvPr/>
        </p:nvPicPr>
        <p:blipFill>
          <a:blip r:embed="rId3"/>
          <a:stretch>
            <a:fillRect/>
          </a:stretch>
        </p:blipFill>
        <p:spPr>
          <a:xfrm>
            <a:off x="336104" y="1341411"/>
            <a:ext cx="6532056" cy="5059389"/>
          </a:xfrm>
          <a:prstGeom prst="rect">
            <a:avLst/>
          </a:prstGeom>
        </p:spPr>
      </p:pic>
      <p:sp>
        <p:nvSpPr>
          <p:cNvPr id="2" name="TextBox 1">
            <a:extLst>
              <a:ext uri="{FF2B5EF4-FFF2-40B4-BE49-F238E27FC236}">
                <a16:creationId xmlns:a16="http://schemas.microsoft.com/office/drawing/2014/main" id="{67115352-289C-6232-6166-3FA211B95246}"/>
              </a:ext>
            </a:extLst>
          </p:cNvPr>
          <p:cNvSpPr txBox="1"/>
          <p:nvPr/>
        </p:nvSpPr>
        <p:spPr>
          <a:xfrm>
            <a:off x="7153196" y="1431693"/>
            <a:ext cx="4231640" cy="4801314"/>
          </a:xfrm>
          <a:prstGeom prst="rect">
            <a:avLst/>
          </a:prstGeom>
          <a:noFill/>
        </p:spPr>
        <p:txBody>
          <a:bodyPr wrap="square" rtlCol="0">
            <a:spAutoFit/>
          </a:bodyPr>
          <a:lstStyle/>
          <a:p>
            <a:r>
              <a:rPr lang="en-IN" dirty="0"/>
              <a:t>In this analysis, I evaluated the linear correlation between environmental factors and crop yield using a correlation heatmap. The heatmap shows moderate positive relationships among environmental variables like rainfall, humidity, and soil moisture (values up to 0.52), but very weak linear correlations with crop yield (around 0.01 to 0.03). This comparison helps us understand how environmental features interact with each other; however, it shows linear relationships rather than proving direct causation or capturing non-linear effects.</a:t>
            </a:r>
          </a:p>
          <a:p>
            <a:endParaRPr lang="en-IN"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53A89014-2224-0A1B-7684-E9672A1B6A10}"/>
              </a:ext>
            </a:extLst>
          </p:cNvPr>
          <p:cNvPicPr>
            <a:picLocks noChangeAspect="1"/>
          </p:cNvPicPr>
          <p:nvPr/>
        </p:nvPicPr>
        <p:blipFill>
          <a:blip r:embed="rId3"/>
          <a:stretch>
            <a:fillRect/>
          </a:stretch>
        </p:blipFill>
        <p:spPr>
          <a:xfrm>
            <a:off x="0" y="1201586"/>
            <a:ext cx="4490720" cy="5463374"/>
          </a:xfrm>
          <a:prstGeom prst="rect">
            <a:avLst/>
          </a:prstGeom>
        </p:spPr>
      </p:pic>
      <p:pic>
        <p:nvPicPr>
          <p:cNvPr id="6" name="Picture 5">
            <a:extLst>
              <a:ext uri="{FF2B5EF4-FFF2-40B4-BE49-F238E27FC236}">
                <a16:creationId xmlns:a16="http://schemas.microsoft.com/office/drawing/2014/main" id="{16954C4E-21F7-742A-316A-97E264924E5C}"/>
              </a:ext>
            </a:extLst>
          </p:cNvPr>
          <p:cNvPicPr>
            <a:picLocks noChangeAspect="1"/>
          </p:cNvPicPr>
          <p:nvPr/>
        </p:nvPicPr>
        <p:blipFill>
          <a:blip r:embed="rId4"/>
          <a:stretch>
            <a:fillRect/>
          </a:stretch>
        </p:blipFill>
        <p:spPr>
          <a:xfrm>
            <a:off x="4340501" y="1189714"/>
            <a:ext cx="4112620" cy="5378726"/>
          </a:xfrm>
          <a:prstGeom prst="rect">
            <a:avLst/>
          </a:prstGeom>
        </p:spPr>
      </p:pic>
      <p:sp>
        <p:nvSpPr>
          <p:cNvPr id="9" name="TextBox 8">
            <a:extLst>
              <a:ext uri="{FF2B5EF4-FFF2-40B4-BE49-F238E27FC236}">
                <a16:creationId xmlns:a16="http://schemas.microsoft.com/office/drawing/2014/main" id="{4380EC6C-5B28-3D8B-F08A-D084F2353611}"/>
              </a:ext>
            </a:extLst>
          </p:cNvPr>
          <p:cNvSpPr txBox="1"/>
          <p:nvPr/>
        </p:nvSpPr>
        <p:spPr>
          <a:xfrm>
            <a:off x="8678822" y="1275370"/>
            <a:ext cx="3330298" cy="4524315"/>
          </a:xfrm>
          <a:prstGeom prst="rect">
            <a:avLst/>
          </a:prstGeom>
          <a:noFill/>
        </p:spPr>
        <p:txBody>
          <a:bodyPr wrap="square" rtlCol="0">
            <a:spAutoFit/>
          </a:bodyPr>
          <a:lstStyle/>
          <a:p>
            <a:r>
              <a:rPr lang="en-IN" dirty="0"/>
              <a:t>In this analysis, I compared the average yield and average profit across seasons (Kharif, Rabi, and Zaid) using bar charts. The plots show that Kharif leads in both yield and profitability, while Zaid records the lowest yield and negative profit performance. This comparison helps us evaluate seasonal profitability trends; however, it shows general differences across seasons rather than proving direct causation.</a:t>
            </a:r>
          </a:p>
          <a:p>
            <a:endParaRPr lang="en-IN"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43289-7CDC-071A-F737-59AD2951718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462C959-CEF2-2408-B294-5F5FE854C0D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C2777DD-D2CC-F1A6-3E36-1BDFD8315F0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43BB30C-ED3A-E811-E1DF-C2714ABBFC5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3302A91-A294-272C-6165-5457D95AB61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C448ED8-36C6-D180-D5ED-EA6A4F8672CB}"/>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27528097-3748-A248-0B6A-7F5285A5676F}"/>
              </a:ext>
            </a:extLst>
          </p:cNvPr>
          <p:cNvPicPr>
            <a:picLocks noChangeAspect="1"/>
          </p:cNvPicPr>
          <p:nvPr/>
        </p:nvPicPr>
        <p:blipFill>
          <a:blip r:embed="rId3"/>
          <a:stretch>
            <a:fillRect/>
          </a:stretch>
        </p:blipFill>
        <p:spPr>
          <a:xfrm>
            <a:off x="144963" y="971332"/>
            <a:ext cx="3772146" cy="5348188"/>
          </a:xfrm>
          <a:prstGeom prst="rect">
            <a:avLst/>
          </a:prstGeom>
        </p:spPr>
      </p:pic>
      <p:pic>
        <p:nvPicPr>
          <p:cNvPr id="9" name="Picture 8">
            <a:extLst>
              <a:ext uri="{FF2B5EF4-FFF2-40B4-BE49-F238E27FC236}">
                <a16:creationId xmlns:a16="http://schemas.microsoft.com/office/drawing/2014/main" id="{4E32B18A-1394-1109-F731-822482F73B16}"/>
              </a:ext>
            </a:extLst>
          </p:cNvPr>
          <p:cNvPicPr>
            <a:picLocks noChangeAspect="1"/>
          </p:cNvPicPr>
          <p:nvPr/>
        </p:nvPicPr>
        <p:blipFill>
          <a:blip r:embed="rId4"/>
          <a:stretch>
            <a:fillRect/>
          </a:stretch>
        </p:blipFill>
        <p:spPr>
          <a:xfrm>
            <a:off x="3917109" y="1027212"/>
            <a:ext cx="3772146" cy="5028148"/>
          </a:xfrm>
          <a:prstGeom prst="rect">
            <a:avLst/>
          </a:prstGeom>
        </p:spPr>
      </p:pic>
      <p:sp>
        <p:nvSpPr>
          <p:cNvPr id="11" name="TextBox 10">
            <a:extLst>
              <a:ext uri="{FF2B5EF4-FFF2-40B4-BE49-F238E27FC236}">
                <a16:creationId xmlns:a16="http://schemas.microsoft.com/office/drawing/2014/main" id="{CF8D08FA-1907-8253-2B04-710F800392A3}"/>
              </a:ext>
            </a:extLst>
          </p:cNvPr>
          <p:cNvSpPr txBox="1"/>
          <p:nvPr/>
        </p:nvSpPr>
        <p:spPr>
          <a:xfrm>
            <a:off x="8117839" y="1027212"/>
            <a:ext cx="3929197" cy="4801314"/>
          </a:xfrm>
          <a:prstGeom prst="rect">
            <a:avLst/>
          </a:prstGeom>
          <a:noFill/>
        </p:spPr>
        <p:txBody>
          <a:bodyPr wrap="square" rtlCol="0">
            <a:spAutoFit/>
          </a:bodyPr>
          <a:lstStyle/>
          <a:p>
            <a:r>
              <a:rPr lang="en-IN" dirty="0"/>
              <a:t>In this student-designed analysis, I evaluated crop performance by comparing average yield and average profit across different crops using a summary table and a bar chart. The analysis shows that Sugarcane achieves a significantly higher average yield (~46.64 Tonnes/Ha) and higher average profit compared to all other crops, which remain under 3 Tonnes/Ha. This comparison helps us identify top-performing crops across performance metrics; however, it shows observed differences rather than proving direct causation.</a:t>
            </a:r>
          </a:p>
          <a:p>
            <a:endParaRPr lang="en-IN" dirty="0"/>
          </a:p>
        </p:txBody>
      </p:sp>
    </p:spTree>
    <p:extLst>
      <p:ext uri="{BB962C8B-B14F-4D97-AF65-F5344CB8AC3E}">
        <p14:creationId xmlns:p14="http://schemas.microsoft.com/office/powerpoint/2010/main" val="71553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6" y="370589"/>
            <a:ext cx="10124123" cy="6030211"/>
          </a:xfrm>
        </p:spPr>
        <p:txBody>
          <a:bodyPr>
            <a:noAutofit/>
          </a:bodyPr>
          <a:lstStyle/>
          <a:p>
            <a:pPr lvl="0"/>
            <a:r>
              <a:rPr lang="en-IN" sz="2400" dirty="0"/>
              <a:t>Future scope</a:t>
            </a:r>
            <a:br>
              <a:rPr lang="en-IN" sz="2400" dirty="0"/>
            </a:br>
            <a:br>
              <a:rPr lang="en-IN" sz="2400" dirty="0"/>
            </a:br>
            <a:r>
              <a:rPr lang="en-IN" sz="2000" dirty="0">
                <a:latin typeface="Cambria" panose="02040503050406030204" pitchFamily="18" charset="0"/>
                <a:ea typeface="Cambria" panose="02040503050406030204" pitchFamily="18" charset="0"/>
              </a:rPr>
              <a:t>Machine Learning Integration</a:t>
            </a:r>
            <a:r>
              <a:rPr lang="en-IN" sz="2000" b="0" dirty="0">
                <a:latin typeface="Cambria" panose="02040503050406030204" pitchFamily="18" charset="0"/>
                <a:ea typeface="Cambria" panose="02040503050406030204" pitchFamily="18" charset="0"/>
              </a:rPr>
              <a:t>: Crop yield, production, and profit can be predicted using machine learning models. </a:t>
            </a:r>
            <a:br>
              <a:rPr lang="en-IN" sz="2000" b="0" dirty="0">
                <a:latin typeface="Cambria" panose="02040503050406030204" pitchFamily="18" charset="0"/>
                <a:ea typeface="Cambria" panose="02040503050406030204" pitchFamily="18" charset="0"/>
              </a:rPr>
            </a:br>
            <a:br>
              <a:rPr lang="en-IN" sz="2000" b="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Real-Time Data</a:t>
            </a:r>
            <a:r>
              <a:rPr lang="en-IN" sz="2000" b="0" dirty="0">
                <a:latin typeface="Cambria" panose="02040503050406030204" pitchFamily="18" charset="0"/>
                <a:ea typeface="Cambria" panose="02040503050406030204" pitchFamily="18" charset="0"/>
              </a:rPr>
              <a:t>: Real-time weather and environmental data can be added for more accurate analysis. </a:t>
            </a:r>
            <a:br>
              <a:rPr lang="en-IN" sz="2000" b="0" dirty="0">
                <a:latin typeface="Cambria" panose="02040503050406030204" pitchFamily="18" charset="0"/>
                <a:ea typeface="Cambria" panose="02040503050406030204" pitchFamily="18" charset="0"/>
              </a:rPr>
            </a:br>
            <a:br>
              <a:rPr lang="en-IN" sz="2000" b="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Interactive Dashboard: </a:t>
            </a:r>
            <a:r>
              <a:rPr lang="en-IN" sz="2000" b="0" dirty="0">
                <a:latin typeface="Cambria" panose="02040503050406030204" pitchFamily="18" charset="0"/>
                <a:ea typeface="Cambria" panose="02040503050406030204" pitchFamily="18" charset="0"/>
              </a:rPr>
              <a:t>A user-friendly dashboard can be developed to display agricultural trends and insights. </a:t>
            </a:r>
            <a:br>
              <a:rPr lang="en-IN" sz="2000" b="0" dirty="0">
                <a:latin typeface="Cambria" panose="02040503050406030204" pitchFamily="18" charset="0"/>
                <a:ea typeface="Cambria" panose="02040503050406030204" pitchFamily="18" charset="0"/>
              </a:rPr>
            </a:br>
            <a:br>
              <a:rPr lang="en-IN" sz="2000" b="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Larger Dataset: </a:t>
            </a:r>
            <a:r>
              <a:rPr lang="en-IN" sz="2000" b="0" dirty="0">
                <a:latin typeface="Cambria" panose="02040503050406030204" pitchFamily="18" charset="0"/>
                <a:ea typeface="Cambria" panose="02040503050406030204" pitchFamily="18" charset="0"/>
              </a:rPr>
              <a:t>More crops, regions, and data from multiple years can be included for better analysis. </a:t>
            </a:r>
            <a:br>
              <a:rPr lang="en-IN" sz="2000" b="0" dirty="0">
                <a:latin typeface="Cambria" panose="02040503050406030204" pitchFamily="18" charset="0"/>
                <a:ea typeface="Cambria" panose="02040503050406030204" pitchFamily="18" charset="0"/>
              </a:rPr>
            </a:br>
            <a:br>
              <a:rPr lang="en-IN" sz="2000" b="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Better Recommendations: </a:t>
            </a:r>
            <a:r>
              <a:rPr lang="en-IN" sz="2000" b="0" dirty="0">
                <a:latin typeface="Cambria" panose="02040503050406030204" pitchFamily="18" charset="0"/>
                <a:ea typeface="Cambria" panose="02040503050406030204" pitchFamily="18" charset="0"/>
              </a:rPr>
              <a:t>The system can provide recommendations for crop selection, water usage, and resource management. </a:t>
            </a:r>
            <a:br>
              <a:rPr lang="en-IN" sz="2000" b="0" dirty="0">
                <a:latin typeface="Cambria" panose="02040503050406030204" pitchFamily="18" charset="0"/>
                <a:ea typeface="Cambria" panose="02040503050406030204" pitchFamily="18" charset="0"/>
              </a:rPr>
            </a:br>
            <a:br>
              <a:rPr lang="en-IN" sz="2000" b="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Advanced Analysis: </a:t>
            </a:r>
            <a:r>
              <a:rPr lang="en-IN" sz="2000" b="0" dirty="0">
                <a:latin typeface="Cambria" panose="02040503050406030204" pitchFamily="18" charset="0"/>
                <a:ea typeface="Cambria" panose="02040503050406030204" pitchFamily="18" charset="0"/>
              </a:rPr>
              <a:t>More statistical and analytical techniques can be added to identify deeper agricultural patterns.</a:t>
            </a:r>
            <a:br>
              <a:rPr lang="en-IN" sz="2000" b="0" dirty="0">
                <a:latin typeface="Cambria" panose="02040503050406030204" pitchFamily="18" charset="0"/>
                <a:ea typeface="Cambria" panose="02040503050406030204" pitchFamily="18" charset="0"/>
              </a:rPr>
            </a:br>
            <a:endParaRPr lang="en-IN" sz="2400" b="0" dirty="0">
              <a:latin typeface="Cambria" panose="02040503050406030204" pitchFamily="18" charset="0"/>
              <a:ea typeface="Cambria" panose="02040503050406030204" pitchFamily="18" charset="0"/>
            </a:endParaRP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https://github.com/shilpa01-hub/seasonal_agriculture_performance_analysis.git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D9216D5-885A-D8C7-DDB7-43B040804C12}"/>
              </a:ext>
            </a:extLst>
          </p:cNvPr>
          <p:cNvPicPr>
            <a:picLocks noChangeAspect="1"/>
          </p:cNvPicPr>
          <p:nvPr/>
        </p:nvPicPr>
        <p:blipFill>
          <a:blip r:embed="rId3"/>
          <a:stretch>
            <a:fillRect/>
          </a:stretch>
        </p:blipFill>
        <p:spPr>
          <a:xfrm>
            <a:off x="1747519" y="1656080"/>
            <a:ext cx="8148321" cy="490727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3078943"/>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1421</TotalTime>
  <Words>1019</Words>
  <Application>Microsoft Office PowerPoint</Application>
  <PresentationFormat>Widescreen</PresentationFormat>
  <Paragraphs>44</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Cambria</vt:lpstr>
      <vt:lpstr>Trebuchet MS</vt:lpstr>
      <vt:lpstr>Wingdings</vt:lpstr>
      <vt:lpstr>Wingdings 3</vt:lpstr>
      <vt:lpstr>Facet</vt:lpstr>
      <vt:lpstr>Project Title - Seasonal Agriculture Performance Analysis</vt:lpstr>
      <vt:lpstr>PROBLEM  STATEMENT</vt:lpstr>
      <vt:lpstr>Project Description  Seasonal Agriculture Performance Analysis is a Python-based data analysis project that focuses on understanding agricultural performance under different seasonal conditions. The project analyzes factors such as rainfall, temperature, soil conditions, irrigation, water usage, crop yield, production, cost, revenue, and profit.  The data is cleaned, analyzed, and visualized using Python to identify important patterns, performance differences, resource usage, and relationships between environmental factors and agricultural outcomes. The project also provides meaningful insights and data-driven recommendations that can support better agricultural planning and efficient use of resources.  </vt:lpstr>
      <vt:lpstr>WHO ARE THE END USERS?</vt:lpstr>
      <vt:lpstr>Technology Used</vt:lpstr>
      <vt:lpstr>RESULTS  </vt:lpstr>
      <vt:lpstr>RESULTS </vt:lpstr>
      <vt:lpstr>RESULTS </vt:lpstr>
      <vt:lpstr>RESULTS </vt:lpstr>
      <vt:lpstr>RESULTS </vt:lpstr>
      <vt:lpstr>RESULTS </vt:lpstr>
      <vt:lpstr>Future scope  Machine Learning Integration: Crop yield, production, and profit can be predicted using machine learning models.   Real-Time Data: Real-time weather and environmental data can be added for more accurate analysis.   Interactive Dashboard: A user-friendly dashboard can be developed to display agricultural trends and insights.   Larger Dataset: More crops, regions, and data from multiple years can be included for better analysis.   Better Recommendations: The system can provide recommendations for crop selection, water usage, and resource management.   Advanced Analysis: More statistical and analytical techniques can be added to identify deeper agricultural patterns. </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Pratik Dattani</cp:lastModifiedBy>
  <cp:revision>103</cp:revision>
  <dcterms:created xsi:type="dcterms:W3CDTF">2021-07-11T13:13:15Z</dcterms:created>
  <dcterms:modified xsi:type="dcterms:W3CDTF">2026-09-10T06:46:34Z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